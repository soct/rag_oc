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2EA"/>
          </a:solidFill>
          <a:ln>
            <a:solidFill>
              <a:srgbClr val="F8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206240" cy="6858000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F2F16"/>
                </a:solidFill>
                <a:latin typeface="Aptos"/>
              </a:rPr>
              <a:t>POC ·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858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F1B16"/>
                </a:solidFill>
                <a:latin typeface="Aptos Display"/>
              </a:rPr>
              <a:t>Trouver les bons
événements, plus
simplement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93008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2584D"/>
                </a:solidFill>
                <a:latin typeface="Aptos"/>
              </a:rPr>
              <a:t>OpenAgenda · Mistral · LangChain · FAISS · 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096512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F1B16"/>
                </a:solidFill>
                <a:latin typeface="Aptos"/>
              </a:rPr>
              <a:t>Un moteur de recherche d'événements
qui comprend les demandes en langage courant.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23444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371600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7F2F16"/>
                </a:solidFill>
                <a:latin typeface="Aptos"/>
              </a:rPr>
              <a:t>OpenAgenda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24028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2377440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7F2F16"/>
                </a:solidFill>
                <a:latin typeface="Aptos"/>
              </a:rPr>
              <a:t>FAISS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324612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3383279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7F2F16"/>
                </a:solidFill>
                <a:latin typeface="Aptos"/>
              </a:rPr>
              <a:t>Mistral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425196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4389120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7F2F16"/>
                </a:solidFill>
                <a:latin typeface="Aptos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98932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Marceau PHEULPIN · Démonstration du POC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Le besoin de Puls-Events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Aider les équipes produit et marketing à valider la faisabilité d'un assistant événementiel.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Une plateforme de recommandations culturelles personnalisées.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Données d'événements riches mais hétérogènes.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Périmètre : Île-de-France.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Limite d'une recherche classique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Les mots-clés ne comprennent pas l'intention.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Date, lieu et description sont dispersés.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Difficile de proposer une réponse synthétique.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Réponse proposée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Recherche sémantique dans les événements.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Une réponse construite à partir des événements trouvés.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API réutilisable par un autre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Notre objectif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Démontrer un parcours complet : de la donnée OpenAgenda à une réponse exploitable via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2423160" cy="2377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9067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1B16"/>
                </a:solidFill>
                <a:latin typeface="Aptos"/>
              </a:rPr>
              <a:t>Collecter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4787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Récupérer et normaliser les événements OpenAgenda.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127248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148840"/>
            <a:ext cx="2423160" cy="2377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03320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505456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09067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1B16"/>
                </a:solidFill>
                <a:latin typeface="Aptos"/>
              </a:rPr>
              <a:t>Indexer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54787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Transformer les textes en vecteurs et construire FAISS.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3127248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148840"/>
            <a:ext cx="2423160" cy="2377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5F45"/>
          </a:solidFill>
          <a:ln>
            <a:solidFill>
              <a:srgbClr val="235F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505456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09067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1B16"/>
                </a:solidFill>
                <a:latin typeface="Aptos"/>
              </a:rPr>
              <a:t>Répondre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4787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Retrouver les bons éléments et formuler une réponse claire.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3127248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2148840"/>
            <a:ext cx="2423160" cy="2377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72600" y="23957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505456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3090672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1B16"/>
                </a:solidFill>
                <a:latin typeface="Aptos"/>
              </a:rPr>
              <a:t>Exposer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54787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Fournir une API testable et documentée.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Collecter les événements OpenAgenda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Une collecte traçable, ciblée sur l'Île-de-France et rejouable pour reconstruire l'index.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2880360" cy="3520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7F2F16"/>
                </a:solidFill>
                <a:latin typeface="Aptos"/>
              </a:rPr>
              <a:t>OpenAgenda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1B16"/>
                </a:solidFill>
                <a:latin typeface="Aptos"/>
              </a:rPr>
              <a:t>Source ouverte
d'événements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Événements publiés
en français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3659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35F45"/>
                </a:solidFill>
                <a:latin typeface="Aptos"/>
              </a:rPr>
              <a:t>API OpenAgenda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29184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828800"/>
            <a:ext cx="3154680" cy="352044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F1B16"/>
                </a:solidFill>
                <a:latin typeface="Aptos"/>
              </a:rPr>
              <a:t>Stratégie robuste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74320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2584D"/>
                </a:solidFill>
                <a:latin typeface="Aptos"/>
              </a:rPr>
              <a:t>Mode auto : recherche
transverse ou par agendas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767328"/>
            <a:ext cx="2331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F2F16"/>
                </a:solidFill>
                <a:latin typeface="Aptos"/>
              </a:rPr>
              <a:t>Fenêtre :
maintenant − 365 jours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329184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22208" y="1828800"/>
            <a:ext cx="3017520" cy="3520440"/>
          </a:xfrm>
          <a:prstGeom prst="roundRect">
            <a:avLst>
              <a:gd name="adj" fmla="val 12000"/>
            </a:avLst>
          </a:prstGeom>
          <a:solidFill>
            <a:srgbClr val="235F45"/>
          </a:solidFill>
          <a:ln>
            <a:solidFill>
              <a:srgbClr val="235F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6" y="214884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JSONL + manifeste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4816" y="274320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Une ligne par
événement normalisé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3794760"/>
            <a:ext cx="2148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Le manifeste trace
le run et ses filtres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Nettoyer et normaliser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Transformer les réponses hétérogènes de l'API en fiches stables et exploitables.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Données nettoyées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Français privilégié pour les champs multilingues.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Lieu normalisé : ville, département, région.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Mots-clés et créneaux mis sous un format stable.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Événements dédupliqués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Identifiant stable : openagenda:&lt;uid&gt;.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Même événement présent dans plusieurs agendas : une seule fiche.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Les agendas sources restent conservés.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Champ document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Titre, description, types, dates et lieu regroupés.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Le texte représente aussi les critères « où ? » et « quand ? 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C'est la base des chunks et des embeddings.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Découper puis vectoriser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Préparer des unités de recherche précises, sans perdre le contexte des fiches événementielles.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800 caractères maximum par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Coupure au dernier espace disponible.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Assez court pour une recherche fine, assez long pour garder le sens.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Recouvrement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120 caractères entre deux chunks voisins.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Préserve le contexte à la frontière d'une coupe.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Compromis : moins de perte de sens, sans trop de doublons.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874519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09397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Embeddings Mistral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6032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56032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mistral-embed transforme les chunks en vecteurs.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8211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8211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Batches de 32, pause et retries contre les quotas.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80390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80390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Vecteurs float32 normalisés L2 pour FAISS.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Construire l'index vectoriel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Le choix d'index privilégie la qualité de récupération et la simplicité au volume actuel.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520440" cy="361188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4825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IndexFlatIP retenu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Produit scalaire sur vecteurs normalisés = similarité cosinus.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Recherche exacte sur environ 65 000 chunks.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Pas d'entraînement ni de paramètre de rappel à régler.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28800"/>
            <a:ext cx="3520440" cy="361188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4825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Pourquoi pas IVF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1460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Adapté à une volumétrie plus élevée.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3639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Entraînement et réglages nlist / nprobe requis.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75818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Recherche approchée : un bon chunk peut être manqué.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828800"/>
            <a:ext cx="3520440" cy="361188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048256"/>
            <a:ext cx="30083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Pourquoi pas HNSW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514600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Très faible latence à grande échelle.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36392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Plus de mémoire et plus de paramètres à régler.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758184"/>
            <a:ext cx="2761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Complexité non nécessaire pour ce POC local.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Répondre à une question avec le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La génération ne part pas de zéro : elle s'appuie sur les chunks retrouvés dans l'index.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" y="2240280"/>
            <a:ext cx="1965960" cy="169164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2523744"/>
            <a:ext cx="1673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971800"/>
            <a:ext cx="16733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« Une exposition gratuite
ce week-end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2852928"/>
            <a:ext cx="274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240280"/>
            <a:ext cx="1965960" cy="1691640"/>
          </a:xfrm>
          <a:prstGeom prst="roundRect">
            <a:avLst>
              <a:gd name="adj" fmla="val 12000"/>
            </a:avLst>
          </a:prstGeom>
          <a:solidFill>
            <a:srgbClr val="235F45"/>
          </a:solidFill>
          <a:ln>
            <a:solidFill>
              <a:srgbClr val="235F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2523744"/>
            <a:ext cx="1673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5224" y="2971800"/>
            <a:ext cx="16733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Vecteur de la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852928"/>
            <a:ext cx="274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7" y="2240280"/>
            <a:ext cx="1965960" cy="169164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1" y="2523744"/>
            <a:ext cx="1673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1" y="2971800"/>
            <a:ext cx="16733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FAISS cherche ×20
(minimum 100)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2852928"/>
            <a:ext cx="274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88936" y="2240280"/>
            <a:ext cx="1965960" cy="1691640"/>
          </a:xfrm>
          <a:prstGeom prst="roundRect">
            <a:avLst>
              <a:gd name="adj" fmla="val 12000"/>
            </a:avLst>
          </a:prstGeom>
          <a:solidFill>
            <a:srgbClr val="235F45"/>
          </a:solidFill>
          <a:ln>
            <a:solidFill>
              <a:srgbClr val="235F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2523744"/>
            <a:ext cx="1673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Filtre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971800"/>
            <a:ext cx="16733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Écarter les événements
déjà terminés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2852928"/>
            <a:ext cx="274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38944" y="2240280"/>
            <a:ext cx="1965960" cy="169164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2523744"/>
            <a:ext cx="1673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Réponse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2971800"/>
            <a:ext cx="16733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Mistral rédige depuis
le contexte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8463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7F2F16"/>
                </a:solidFill>
                <a:latin typeface="Aptos"/>
              </a:rPr>
              <a:t>Puis les 5 meilleurs résultats restants fournissent au plus 4 éléments de contexte au modèle de génération.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Un point de vigilance : la fraîcheur des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Le corpus historique contient beaucoup d'événements déjà terminés.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65960"/>
            <a:ext cx="3840480" cy="301752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04872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7F2F16"/>
                </a:solidFill>
                <a:latin typeface="Aptos"/>
              </a:rPr>
              <a:t>≈ 89 %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2584D"/>
                </a:solidFill>
                <a:latin typeface="Aptos"/>
              </a:rPr>
              <a:t>des chunks indexés correspondent
à des événements terminés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1965960"/>
            <a:ext cx="2148840" cy="3017520"/>
          </a:xfrm>
          <a:prstGeom prst="roundRect">
            <a:avLst>
              <a:gd name="adj" fmla="val 12000"/>
            </a:avLst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3591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Problème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971800"/>
            <a:ext cx="1645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Une recherche courte
retourne souvent
peu d'événements à venir.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15468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7F2F16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965960"/>
            <a:ext cx="3246120" cy="3017520"/>
          </a:xfrm>
          <a:prstGeom prst="roundRect">
            <a:avLst>
              <a:gd name="adj" fmla="val 12000"/>
            </a:avLst>
          </a:prstGeom>
          <a:solidFill>
            <a:srgbClr val="235F45"/>
          </a:solidFill>
          <a:ln>
            <a:solidFill>
              <a:srgbClr val="235F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2359152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2971800"/>
            <a:ext cx="2651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On regarde davantage
de résultats (×20, min. 100),
puis on retire les dates passées.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Une API pour utiliser le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La recherche peut être testée depuis Swagger ou un simple client HTTP.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3657600" cy="3566160"/>
          </a:xfrm>
          <a:prstGeom prst="roundRect">
            <a:avLst>
              <a:gd name="adj" fmla="val 12000"/>
            </a:avLst>
          </a:prstGeom>
          <a:solidFill>
            <a:srgbClr val="1F1B16"/>
          </a:solidFill>
          <a:ln>
            <a:solidFill>
              <a:srgbClr val="1F1B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1762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 Mono"/>
              </a:rPr>
              <a:t>POST /ask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88920"/>
            <a:ext cx="2971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3C7AD"/>
                </a:solidFill>
                <a:latin typeface="Aptos Mono"/>
              </a:rPr>
              <a:t>{
  "question": "Je cherche un atelier
  à Paris ce week-end"
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681728"/>
            <a:ext cx="2971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→ réponse + sources + scores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1828800"/>
            <a:ext cx="30632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2048256"/>
            <a:ext cx="25511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514600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GET /health : disponibilité.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36392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POST /ask : poser une question.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758184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POST /rebuild : reconstruction de l'index.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828800"/>
            <a:ext cx="30632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048256"/>
            <a:ext cx="255117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Scénarios de démo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2514600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Atelier à Paris ce week-end.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136392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Événements famille prochainement.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58184"/>
            <a:ext cx="23042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Exposition gratuite en Île-de-France.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Ce que nous avons mesuré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Des contrôles sur le code, l'API et la qualité des réponses sur 10 cas annotés.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2514600" cy="1536192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185416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B74F2A"/>
                </a:solidFill>
                <a:latin typeface="Aptos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4320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2584D"/>
                </a:solidFill>
                <a:latin typeface="Aptos"/>
              </a:rPr>
              <a:t>tests unitaires et
d'intégration passent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874519"/>
            <a:ext cx="2514600" cy="1536192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185416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35F45"/>
                </a:solidFill>
                <a:latin typeface="Aptos"/>
              </a:rPr>
              <a:t>1,00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274320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2584D"/>
                </a:solidFill>
                <a:latin typeface="Aptos"/>
              </a:rPr>
              <a:t>context precision
(RAGAS static)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1874519"/>
            <a:ext cx="2514600" cy="1536192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185416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B74F2A"/>
                </a:solidFill>
                <a:latin typeface="Aptos"/>
              </a:rPr>
              <a:t>0,85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74320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2584D"/>
                </a:solidFill>
                <a:latin typeface="Aptos"/>
              </a:rPr>
              <a:t>answer relevancy
(RAGAS static)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98863" y="1874519"/>
            <a:ext cx="2514600" cy="1536192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743" y="2185416"/>
            <a:ext cx="2148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235F45"/>
                </a:solidFill>
                <a:latin typeface="Aptos"/>
              </a:rPr>
              <a:t>0,70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3" y="2743200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2584D"/>
                </a:solidFill>
                <a:latin typeface="Aptos"/>
              </a:rPr>
              <a:t>faithfulness
(RAGAS static)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4440" y="4160520"/>
            <a:ext cx="9692640" cy="676656"/>
          </a:xfrm>
          <a:prstGeom prst="roundRect">
            <a:avLst>
              <a:gd name="adj" fmla="val 12000"/>
            </a:avLst>
          </a:prstGeom>
          <a:solidFill>
            <a:srgbClr val="F3C7AD"/>
          </a:solidFill>
          <a:ln>
            <a:solidFill>
              <a:srgbClr val="F3C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7F2F16"/>
                </a:solidFill>
                <a:latin typeface="Aptos"/>
              </a:rPr>
              <a:t>71 % de couverture. Lecture : la récupération est pertinente sur l'échantillon ; mieux contraindre la génération reste prioritaire.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7F2F16"/>
          </a:solidFill>
          <a:ln>
            <a:solidFill>
              <a:srgbClr val="7F2F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638544"/>
            <a:ext cx="5120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ptos"/>
              </a:rPr>
              <a:t>Puls-Events · POC assistant de recommandation culturelle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638544"/>
            <a:ext cx="5486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"/>
            <a:ext cx="411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7F2F16"/>
                </a:solidFill>
                <a:latin typeface="Aptos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8912"/>
            <a:ext cx="502920" cy="36576"/>
          </a:xfrm>
          <a:prstGeom prst="rect">
            <a:avLst/>
          </a:prstGeom>
          <a:solidFill>
            <a:srgbClr val="B74F2A"/>
          </a:solidFill>
          <a:ln>
            <a:solidFill>
              <a:srgbClr val="B74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85800"/>
            <a:ext cx="110642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1B16"/>
                </a:solidFill>
                <a:latin typeface="Aptos Display"/>
              </a:rPr>
              <a:t>Conclusion et suite du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52728"/>
            <a:ext cx="10607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2584D"/>
                </a:solidFill>
                <a:latin typeface="Aptos"/>
              </a:rPr>
              <a:t>Une première version fonctionnelle, avec des améliorations déjà identifiées.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206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048256"/>
            <a:ext cx="46085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Ce qui a été réalisé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14600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Pipeline complet : collecte, indexation, retrieval et génération.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136392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Des réponses en langage courant basées sur OpenAgenda.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74F2A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58184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API FastAPI démontrable, testée et conteneurisable.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28800"/>
            <a:ext cx="5120640" cy="3566160"/>
          </a:xfrm>
          <a:prstGeom prst="roundRect">
            <a:avLst>
              <a:gd name="adj" fmla="val 12000"/>
            </a:avLst>
          </a:prstGeom>
          <a:solidFill>
            <a:srgbClr val="FFFAF2"/>
          </a:solidFill>
          <a:ln>
            <a:solidFill>
              <a:srgbClr val="E1D5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048256"/>
            <a:ext cx="46085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1B16"/>
                </a:solidFill>
                <a:latin typeface="Aptos"/>
              </a:rPr>
              <a:t>Prochaines étapes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514600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2514600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Reranking pour affiner les résultats proches.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3136392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3136392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Filtres explicites : date, lieu, catégorie.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3758184"/>
            <a:ext cx="164592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35F45"/>
                </a:solidFill>
                <a:latin typeface="Apto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59" y="3758184"/>
            <a:ext cx="43616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2584D"/>
                </a:solidFill>
                <a:latin typeface="Aptos"/>
              </a:rPr>
              <a:t>Corpus rafraîchi et protection de /rebuild.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7900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7F2F16"/>
                </a:solidFill>
                <a:latin typeface="Aptos Display"/>
              </a:rPr>
              <a:t>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