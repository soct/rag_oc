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2EA"/>
          </a:solidFill>
          <a:ln>
            <a:solidFill>
              <a:srgbClr val="F8F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206240" cy="6858000"/>
          </a:xfrm>
          <a:prstGeom prst="rect">
            <a:avLst/>
          </a:prstGeom>
          <a:solidFill>
            <a:srgbClr val="7F2F16"/>
          </a:solidFill>
          <a:ln>
            <a:solidFill>
              <a:srgbClr val="7F2F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F2F16"/>
                </a:solidFill>
                <a:latin typeface="Aptos"/>
              </a:rPr>
              <a:t>POC · PULS-EVENTS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6858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F1B16"/>
                </a:solidFill>
                <a:latin typeface="Aptos Display"/>
              </a:rPr>
              <a:t>Trouver les bons
événements, plus
simplement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493008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2584D"/>
                </a:solidFill>
                <a:latin typeface="Aptos"/>
              </a:rPr>
              <a:t>OpenAgenda · Mistral · LangChain · FAISS · FastAPI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096512"/>
            <a:ext cx="5303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F1B16"/>
                </a:solidFill>
                <a:latin typeface="Aptos"/>
              </a:rPr>
              <a:t>Un moteur de recherche d'événements
qui comprend les demandes en langage courant.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234440"/>
            <a:ext cx="2194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371600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7F2F16"/>
                </a:solidFill>
                <a:latin typeface="Aptos"/>
              </a:rPr>
              <a:t>OpenAgenda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240280"/>
            <a:ext cx="2194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0" y="2377440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7F2F16"/>
                </a:solidFill>
                <a:latin typeface="Aptos"/>
              </a:rPr>
              <a:t>FAISS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3246120"/>
            <a:ext cx="2194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3383279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7F2F16"/>
                </a:solidFill>
                <a:latin typeface="Aptos"/>
              </a:rPr>
              <a:t>Mistral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4251960"/>
            <a:ext cx="21945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4389120"/>
            <a:ext cx="2194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7F2F16"/>
                </a:solidFill>
                <a:latin typeface="Aptos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5989320"/>
            <a:ext cx="4846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584D"/>
                </a:solidFill>
                <a:latin typeface="Aptos"/>
              </a:rPr>
              <a:t>Marceau PHEULPIN · Démonstration du POC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7F2F16"/>
          </a:solidFill>
          <a:ln>
            <a:solidFill>
              <a:srgbClr val="7F2F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638544"/>
            <a:ext cx="5120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Puls-Events · POC assistant de recommandation culturelle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638544"/>
            <a:ext cx="548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F2F16"/>
                </a:solidFill>
                <a:latin typeface="Apto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"/>
            <a:ext cx="502920" cy="36576"/>
          </a:xfrm>
          <a:prstGeom prst="rect">
            <a:avLst/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8580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1B16"/>
                </a:solidFill>
                <a:latin typeface="Aptos Display"/>
              </a:rPr>
              <a:t>Le besoin de Puls-Events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52728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584D"/>
                </a:solidFill>
                <a:latin typeface="Aptos"/>
              </a:rPr>
              <a:t>Aider les équipes produit et marketing à valider la faisabilité d'un assistant événementiel.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3520440" cy="356616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93976"/>
            <a:ext cx="3008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1B16"/>
                </a:solidFill>
                <a:latin typeface="Aptos"/>
              </a:rPr>
              <a:t>Contexte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74F2A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60320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Une plateforme de recommandations culturelles personnalisées.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82112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74F2A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82112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Données d'événements riches mais hétérogènes.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03904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74F2A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803904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Périmètre : Île-de-France.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874519"/>
            <a:ext cx="3520440" cy="356616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2093976"/>
            <a:ext cx="3008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1B16"/>
                </a:solidFill>
                <a:latin typeface="Aptos"/>
              </a:rPr>
              <a:t>Limite d'une recherche classique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560320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5F45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560320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Les mots-clés ne comprennent pas l'intention.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182112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5F45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182112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Date, lieu et description sont dispersés.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803904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5F45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803904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Difficile de proposer une réponse synthétique.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874519"/>
            <a:ext cx="3520440" cy="356616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2093976"/>
            <a:ext cx="3008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1B16"/>
                </a:solidFill>
                <a:latin typeface="Aptos"/>
              </a:rPr>
              <a:t>Réponse proposée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560320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74F2A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560320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Recherche sémantique dans les événements.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182112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74F2A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182112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Une réponse construite à partir des événements trouvés.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803904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74F2A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803904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API réutilisable par un autre service.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7F2F16"/>
          </a:solidFill>
          <a:ln>
            <a:solidFill>
              <a:srgbClr val="7F2F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638544"/>
            <a:ext cx="5120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Puls-Events · POC assistant de recommandation culturelle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638544"/>
            <a:ext cx="548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F2F16"/>
                </a:solidFill>
                <a:latin typeface="Apto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"/>
            <a:ext cx="502920" cy="36576"/>
          </a:xfrm>
          <a:prstGeom prst="rect">
            <a:avLst/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8580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1B16"/>
                </a:solidFill>
                <a:latin typeface="Aptos Display"/>
              </a:rPr>
              <a:t>Notre objectif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52728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584D"/>
                </a:solidFill>
                <a:latin typeface="Aptos"/>
              </a:rPr>
              <a:t>Démontrer un parcours complet : de la donnée OpenAgenda à une réponse exploitable via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2423160" cy="237744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3957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50545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9067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1B16"/>
                </a:solidFill>
                <a:latin typeface="Aptos"/>
              </a:rPr>
              <a:t>Collecter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47872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584D"/>
                </a:solidFill>
                <a:latin typeface="Aptos"/>
              </a:rPr>
              <a:t>Récupérer et normaliser les événements OpenAgenda.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27248" y="3127248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7F2F16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148840"/>
            <a:ext cx="2423160" cy="237744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03320" y="23957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250545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09067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1B16"/>
                </a:solidFill>
                <a:latin typeface="Aptos"/>
              </a:rPr>
              <a:t>Indexer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547872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584D"/>
                </a:solidFill>
                <a:latin typeface="Aptos"/>
              </a:rPr>
              <a:t>Transformer les textes en vecteurs et construire FAISS.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3127248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7F2F16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148840"/>
            <a:ext cx="2423160" cy="237744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23957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35F45"/>
          </a:solidFill>
          <a:ln>
            <a:solidFill>
              <a:srgbClr val="235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50545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09067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1B16"/>
                </a:solidFill>
                <a:latin typeface="Aptos"/>
              </a:rPr>
              <a:t>Répondre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547872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584D"/>
                </a:solidFill>
                <a:latin typeface="Aptos"/>
              </a:rPr>
              <a:t>Retrouver les bons éléments et formuler une réponse claire.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96528" y="3127248"/>
            <a:ext cx="310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7F2F16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2148840"/>
            <a:ext cx="2423160" cy="237744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72600" y="23957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2505456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309067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F1B16"/>
                </a:solidFill>
                <a:latin typeface="Aptos"/>
              </a:rPr>
              <a:t>Exposer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3547872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584D"/>
                </a:solidFill>
                <a:latin typeface="Aptos"/>
              </a:rPr>
              <a:t>Fournir une API testable et documentée.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7F2F16"/>
          </a:solidFill>
          <a:ln>
            <a:solidFill>
              <a:srgbClr val="7F2F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638544"/>
            <a:ext cx="5120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Puls-Events · POC assistant de recommandation culturelle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638544"/>
            <a:ext cx="548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F2F16"/>
                </a:solidFill>
                <a:latin typeface="Apto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"/>
            <a:ext cx="502920" cy="36576"/>
          </a:xfrm>
          <a:prstGeom prst="rect">
            <a:avLst/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8580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1B16"/>
                </a:solidFill>
                <a:latin typeface="Aptos Display"/>
              </a:rPr>
              <a:t>Les données : OpenAgenda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52728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584D"/>
                </a:solidFill>
                <a:latin typeface="Aptos"/>
              </a:rPr>
              <a:t>Transformer des fiches événementielles en données faciles à rechercher.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2880360" cy="352044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7F2F16"/>
                </a:solidFill>
                <a:latin typeface="Aptos"/>
              </a:rPr>
              <a:t>OpenAgenda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F1B16"/>
                </a:solidFill>
                <a:latin typeface="Aptos"/>
              </a:rPr>
              <a:t>Source ouverte
d'événements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Collecte ciblée sur
l'Île-de-France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736592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35F45"/>
                </a:solidFill>
                <a:latin typeface="Aptos"/>
              </a:rPr>
              <a:t>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29184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7F2F16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828800"/>
            <a:ext cx="3154680" cy="352044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1488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1F1B16"/>
                </a:solidFill>
                <a:latin typeface="Aptos"/>
              </a:rPr>
              <a:t>Normalisation JSONL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7432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2584D"/>
                </a:solidFill>
                <a:latin typeface="Aptos"/>
              </a:rPr>
              <a:t>Un format stable,
une ligne par événement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767328"/>
            <a:ext cx="2331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F2F16"/>
                </a:solidFill>
                <a:latin typeface="Aptos"/>
              </a:rPr>
              <a:t>Titre · description · dates
lieu · catégories · agendas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0688" y="329184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7F2F16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22208" y="1828800"/>
            <a:ext cx="3017520" cy="3520440"/>
          </a:xfrm>
          <a:prstGeom prst="roundRect">
            <a:avLst>
              <a:gd name="adj" fmla="val 12000"/>
            </a:avLst>
          </a:prstGeom>
          <a:solidFill>
            <a:srgbClr val="235F45"/>
          </a:solidFill>
          <a:ln>
            <a:solidFill>
              <a:srgbClr val="235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14816" y="2148840"/>
            <a:ext cx="2377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document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14816" y="274320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Texte regroupé
pour la recherche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4816" y="3794760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ptos"/>
              </a:rPr>
              <a:t>Base du découpage
en chunks et des embeddings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7F2F16"/>
          </a:solidFill>
          <a:ln>
            <a:solidFill>
              <a:srgbClr val="7F2F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638544"/>
            <a:ext cx="5120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Puls-Events · POC assistant de recommandation culturelle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638544"/>
            <a:ext cx="548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F2F16"/>
                </a:solidFill>
                <a:latin typeface="Apto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"/>
            <a:ext cx="502920" cy="36576"/>
          </a:xfrm>
          <a:prstGeom prst="rect">
            <a:avLst/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8580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1B16"/>
                </a:solidFill>
                <a:latin typeface="Aptos Display"/>
              </a:rPr>
              <a:t>Préparer les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52728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584D"/>
                </a:solidFill>
                <a:latin typeface="Aptos"/>
              </a:rPr>
              <a:t>Le moteur est préparé une fois, avant les recherches des utilisateurs.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2316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724912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1B16"/>
                </a:solidFill>
                <a:latin typeface="Aptos"/>
              </a:rPr>
              <a:t>Collecte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145536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2584D"/>
                </a:solidFill>
                <a:latin typeface="Aptos"/>
              </a:rPr>
              <a:t>OpenAgenda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2907792"/>
            <a:ext cx="3108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B74F2A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242316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2724912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1B16"/>
                </a:solidFill>
                <a:latin typeface="Aptos"/>
              </a:rPr>
              <a:t>Nettoyage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3145536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2584D"/>
                </a:solidFill>
                <a:latin typeface="Aptos"/>
              </a:rPr>
              <a:t>normalisation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2907792"/>
            <a:ext cx="3108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B74F2A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12080" y="242316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0" y="2724912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1B16"/>
                </a:solidFill>
                <a:latin typeface="Aptos"/>
              </a:rPr>
              <a:t>Découpage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3145536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2584D"/>
                </a:solidFill>
                <a:latin typeface="Aptos"/>
              </a:rPr>
              <a:t>chunks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2907792"/>
            <a:ext cx="3108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B74F2A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242316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724912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1B16"/>
                </a:solidFill>
                <a:latin typeface="Aptos"/>
              </a:rPr>
              <a:t>Embeddings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145536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2584D"/>
                </a:solidFill>
                <a:latin typeface="Aptos"/>
              </a:rPr>
              <a:t>mistral-embed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2907792"/>
            <a:ext cx="310896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B74F2A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423160"/>
            <a:ext cx="1874519" cy="141732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2724912"/>
            <a:ext cx="160020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1F1B16"/>
                </a:solidFill>
                <a:latin typeface="Aptos"/>
              </a:rPr>
              <a:t>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145536"/>
            <a:ext cx="1600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2584D"/>
                </a:solidFill>
                <a:latin typeface="Aptos"/>
              </a:rPr>
              <a:t>FAISS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34440" y="4572000"/>
            <a:ext cx="9692640" cy="512064"/>
          </a:xfrm>
          <a:prstGeom prst="roundRect">
            <a:avLst>
              <a:gd name="adj" fmla="val 12000"/>
            </a:avLst>
          </a:prstGeom>
          <a:solidFill>
            <a:srgbClr val="F3C7AD"/>
          </a:solidFill>
          <a:ln>
            <a:solidFill>
              <a:srgbClr val="F3C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7320" y="4718304"/>
            <a:ext cx="9281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7F2F16"/>
                </a:solidFill>
                <a:latin typeface="Aptos"/>
              </a:rPr>
              <a:t>Résultat : une base de recherche et les informations nécessaires pour retrouver chaque événement.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7F2F16"/>
          </a:solidFill>
          <a:ln>
            <a:solidFill>
              <a:srgbClr val="7F2F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638544"/>
            <a:ext cx="5120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Puls-Events · POC assistant de recommandation culturelle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638544"/>
            <a:ext cx="548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F2F16"/>
                </a:solidFill>
                <a:latin typeface="Aptos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"/>
            <a:ext cx="502920" cy="36576"/>
          </a:xfrm>
          <a:prstGeom prst="rect">
            <a:avLst/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8580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1B16"/>
                </a:solidFill>
                <a:latin typeface="Aptos Display"/>
              </a:rPr>
              <a:t>Que se passe-t-il quand on pose une question 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52728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584D"/>
                </a:solidFill>
                <a:latin typeface="Aptos"/>
              </a:rPr>
              <a:t>La réponse s'appuie sur les événements réellement retrouvés dans la 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2240280"/>
            <a:ext cx="1965960" cy="1691640"/>
          </a:xfrm>
          <a:prstGeom prst="roundRect">
            <a:avLst>
              <a:gd name="adj" fmla="val 12000"/>
            </a:avLst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5216" y="2523744"/>
            <a:ext cx="1673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971800"/>
            <a:ext cx="16733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« Une exposition gratuite
ce week-end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2304" y="285292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7F2F16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240280"/>
            <a:ext cx="1965960" cy="1691640"/>
          </a:xfrm>
          <a:prstGeom prst="roundRect">
            <a:avLst>
              <a:gd name="adj" fmla="val 12000"/>
            </a:avLst>
          </a:prstGeom>
          <a:solidFill>
            <a:srgbClr val="235F45"/>
          </a:solidFill>
          <a:ln>
            <a:solidFill>
              <a:srgbClr val="235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35224" y="2523744"/>
            <a:ext cx="1673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Embedding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35224" y="2971800"/>
            <a:ext cx="16733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Vecteur de la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285292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7F2F16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38927" y="2240280"/>
            <a:ext cx="1965960" cy="1691640"/>
          </a:xfrm>
          <a:prstGeom prst="roundRect">
            <a:avLst>
              <a:gd name="adj" fmla="val 12000"/>
            </a:avLst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85231" y="2523744"/>
            <a:ext cx="1673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Recherche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85231" y="2971800"/>
            <a:ext cx="16733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FAISS retrouve
les textes proches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19" y="285292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7F2F16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88936" y="2240280"/>
            <a:ext cx="1965960" cy="1691640"/>
          </a:xfrm>
          <a:prstGeom prst="roundRect">
            <a:avLst>
              <a:gd name="adj" fmla="val 12000"/>
            </a:avLst>
          </a:prstGeom>
          <a:solidFill>
            <a:srgbClr val="235F45"/>
          </a:solidFill>
          <a:ln>
            <a:solidFill>
              <a:srgbClr val="235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523744"/>
            <a:ext cx="1673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Informations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971800"/>
            <a:ext cx="16733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Dates, lieux,
descriptions, scores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82328" y="2852928"/>
            <a:ext cx="274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7F2F16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38944" y="2240280"/>
            <a:ext cx="1965960" cy="1691640"/>
          </a:xfrm>
          <a:prstGeom prst="roundRect">
            <a:avLst>
              <a:gd name="adj" fmla="val 12000"/>
            </a:avLst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2523744"/>
            <a:ext cx="167335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Réponse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5248" y="2971800"/>
            <a:ext cx="16733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ptos"/>
              </a:rPr>
              <a:t>Mistral formule
une réponse utile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846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7F2F16"/>
                </a:solidFill>
                <a:latin typeface="Aptos"/>
              </a:rPr>
              <a:t>Règle importante : ne s'appuyer que sur les informations trouvées, sans inventer d'événement.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7F2F16"/>
          </a:solidFill>
          <a:ln>
            <a:solidFill>
              <a:srgbClr val="7F2F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638544"/>
            <a:ext cx="5120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Puls-Events · POC assistant de recommandation culturelle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638544"/>
            <a:ext cx="548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F2F16"/>
                </a:solidFill>
                <a:latin typeface="Aptos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"/>
            <a:ext cx="502920" cy="36576"/>
          </a:xfrm>
          <a:prstGeom prst="rect">
            <a:avLst/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8580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1B16"/>
                </a:solidFill>
                <a:latin typeface="Aptos Display"/>
              </a:rPr>
              <a:t>Comment le projet est organisé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52728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584D"/>
                </a:solidFill>
                <a:latin typeface="Aptos"/>
              </a:rPr>
              <a:t>Des étapes séparées pour garder une application claire et facile à tester.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1783080"/>
            <a:ext cx="9921240" cy="713232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43000" y="1783080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2011680"/>
            <a:ext cx="1691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1. Ingestion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929384"/>
            <a:ext cx="72237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1B16"/>
                </a:solidFill>
                <a:latin typeface="Aptos"/>
              </a:rPr>
              <a:t>scripts/fetch_openagenda_events.py
OpenAgenda → JSONL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2807208"/>
            <a:ext cx="9921240" cy="713232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43000" y="2807208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235F45"/>
          </a:solidFill>
          <a:ln>
            <a:solidFill>
              <a:srgbClr val="235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3035808"/>
            <a:ext cx="1691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2. Indexation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953512"/>
            <a:ext cx="72237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1B16"/>
                </a:solidFill>
                <a:latin typeface="Aptos"/>
              </a:rPr>
              <a:t>build_faiss_index.py
Chunks + embeddings → FAISS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831336"/>
            <a:ext cx="9921240" cy="713232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43000" y="3831336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25880" y="4059936"/>
            <a:ext cx="1691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3. Service de recherche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977640"/>
            <a:ext cx="72237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1B16"/>
                </a:solidFill>
                <a:latin typeface="Aptos"/>
              </a:rPr>
              <a:t>rag_service.py
Recherche, filtrage, contexte, réponse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4855464"/>
            <a:ext cx="9921240" cy="713232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43000" y="4855464"/>
            <a:ext cx="2057400" cy="713232"/>
          </a:xfrm>
          <a:prstGeom prst="roundRect">
            <a:avLst>
              <a:gd name="adj" fmla="val 12000"/>
            </a:avLst>
          </a:prstGeom>
          <a:solidFill>
            <a:srgbClr val="235F45"/>
          </a:solidFill>
          <a:ln>
            <a:solidFill>
              <a:srgbClr val="235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5084064"/>
            <a:ext cx="16916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4.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001768"/>
            <a:ext cx="722376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F1B16"/>
                </a:solidFill>
                <a:latin typeface="Aptos"/>
              </a:rPr>
              <a:t>api.py · FastAPI
/health · /ask · /rebuild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7F2F16"/>
          </a:solidFill>
          <a:ln>
            <a:solidFill>
              <a:srgbClr val="7F2F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638544"/>
            <a:ext cx="5120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Puls-Events · POC assistant de recommandation culturelle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638544"/>
            <a:ext cx="548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F2F16"/>
                </a:solidFill>
                <a:latin typeface="Aptos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"/>
            <a:ext cx="502920" cy="36576"/>
          </a:xfrm>
          <a:prstGeom prst="rect">
            <a:avLst/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8580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1B16"/>
                </a:solidFill>
                <a:latin typeface="Aptos Display"/>
              </a:rPr>
              <a:t>Les principaux choix techniques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52728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584D"/>
                </a:solidFill>
                <a:latin typeface="Aptos"/>
              </a:rPr>
              <a:t>Des outils simples à prendre en main, adaptés au volume de données du projet.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520440" cy="361188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48256"/>
            <a:ext cx="3008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1B16"/>
                </a:solidFill>
                <a:latin typeface="Aptos"/>
              </a:rPr>
              <a:t>Mistral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14600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74F2A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514600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mistral-embed pour comparer les textes.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36392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74F2A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136392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mistral-small-latest pour rédiger la réponse.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58184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74F2A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758184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Bon compromis coût / latence pour un POC.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828800"/>
            <a:ext cx="3520440" cy="361188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2048256"/>
            <a:ext cx="3008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1B16"/>
                </a:solidFill>
                <a:latin typeface="Aptos"/>
              </a:rPr>
              <a:t>FAISS · IndexFlatIP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2514600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5F45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514600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Retenu : recherche exacte, sans entraînement ni réglage.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136392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5F45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3136392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~65 000 chunks : quelques ms par requête, donc Flat suffit.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3758184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5F45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758184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IVF : plus rapide à grande échelle, mais nlist/nprobe et recall approché.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379976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5F45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379976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HNSW : faible latence, mais plus de mémoire et de paramètres.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828800"/>
            <a:ext cx="3520440" cy="361188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2048256"/>
            <a:ext cx="30083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1B16"/>
                </a:solidFill>
                <a:latin typeface="Aptos"/>
              </a:rPr>
              <a:t>LangChain &amp; FastAPI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514600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74F2A"/>
                </a:solidFill>
                <a:latin typeface="Apto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2514600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LangChain : templates de prompt.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3136392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74F2A"/>
                </a:solidFill>
                <a:latin typeface="Aptos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136392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Logique de retrieval gardée explicite.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758184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74F2A"/>
                </a:solidFill>
                <a:latin typeface="Aptos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3758184"/>
            <a:ext cx="27614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FastAPI : validation et Swagger intégrés.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7F2F16"/>
          </a:solidFill>
          <a:ln>
            <a:solidFill>
              <a:srgbClr val="7F2F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638544"/>
            <a:ext cx="5120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Puls-Events · POC assistant de recommandation culturelle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638544"/>
            <a:ext cx="548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F2F16"/>
                </a:solidFill>
                <a:latin typeface="Aptos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"/>
            <a:ext cx="502920" cy="36576"/>
          </a:xfrm>
          <a:prstGeom prst="rect">
            <a:avLst/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8580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1B16"/>
                </a:solidFill>
                <a:latin typeface="Aptos Display"/>
              </a:rPr>
              <a:t>Un point de vigilance : la fraîcheur des données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52728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584D"/>
                </a:solidFill>
                <a:latin typeface="Aptos"/>
              </a:rPr>
              <a:t>Le corpus historique contient beaucoup d'événements déjà terminés.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3840480" cy="301752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404872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7F2F16"/>
                </a:solidFill>
                <a:latin typeface="Aptos"/>
              </a:rPr>
              <a:t>≈ 89 %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3200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62584D"/>
                </a:solidFill>
                <a:latin typeface="Aptos"/>
              </a:rPr>
              <a:t>des chunks indexés correspondent
à des événements terminés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56048" y="1965960"/>
            <a:ext cx="2148840" cy="3017520"/>
          </a:xfrm>
          <a:prstGeom prst="roundRect">
            <a:avLst>
              <a:gd name="adj" fmla="val 12000"/>
            </a:avLst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359152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Problème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971800"/>
            <a:ext cx="16459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Une recherche courte
retourne souvent
peu d'événements à venir.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1546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7F2F16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965960"/>
            <a:ext cx="3246120" cy="3017520"/>
          </a:xfrm>
          <a:prstGeom prst="roundRect">
            <a:avLst>
              <a:gd name="adj" fmla="val 12000"/>
            </a:avLst>
          </a:prstGeom>
          <a:solidFill>
            <a:srgbClr val="235F45"/>
          </a:solidFill>
          <a:ln>
            <a:solidFill>
              <a:srgbClr val="235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235915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2971800"/>
            <a:ext cx="265176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Aptos"/>
              </a:rPr>
              <a:t>On regarde davantage
de résultats (×20, min. 100),
puis on retire les dates passées.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7F2F16"/>
          </a:solidFill>
          <a:ln>
            <a:solidFill>
              <a:srgbClr val="7F2F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638544"/>
            <a:ext cx="5120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Puls-Events · POC assistant de recommandation culturelle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638544"/>
            <a:ext cx="548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F2F16"/>
                </a:solidFill>
                <a:latin typeface="Aptos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"/>
            <a:ext cx="502920" cy="36576"/>
          </a:xfrm>
          <a:prstGeom prst="rect">
            <a:avLst/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8580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1B16"/>
                </a:solidFill>
                <a:latin typeface="Aptos Display"/>
              </a:rPr>
              <a:t>Une API pour utiliser le projet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52728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584D"/>
                </a:solidFill>
                <a:latin typeface="Aptos"/>
              </a:rPr>
              <a:t>La recherche peut être testée depuis Swagger ou un simple client HTTP.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28800"/>
            <a:ext cx="3657600" cy="3566160"/>
          </a:xfrm>
          <a:prstGeom prst="roundRect">
            <a:avLst>
              <a:gd name="adj" fmla="val 12000"/>
            </a:avLst>
          </a:prstGeom>
          <a:solidFill>
            <a:srgbClr val="1F1B16"/>
          </a:solidFill>
          <a:ln>
            <a:solidFill>
              <a:srgbClr val="1F1B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1762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 Mono"/>
              </a:rPr>
              <a:t>POST /ask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788920"/>
            <a:ext cx="2971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3C7AD"/>
                </a:solidFill>
                <a:latin typeface="Aptos Mono"/>
              </a:rPr>
              <a:t>{
  "question": "Je cherche un atelier
  à Paris ce week-end"
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681728"/>
            <a:ext cx="2971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→ réponse + sources + scores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00600" y="1828800"/>
            <a:ext cx="3063240" cy="356616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6632" y="2048256"/>
            <a:ext cx="2551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1B16"/>
                </a:solidFill>
                <a:latin typeface="Aptos"/>
              </a:rPr>
              <a:t>Endpoints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514600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74F2A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514600"/>
            <a:ext cx="23042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GET /health : disponibilité.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136392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74F2A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136392"/>
            <a:ext cx="23042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POST /ask : poser une question.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758184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74F2A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758184"/>
            <a:ext cx="23042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POST /rebuild : reconstruction de l'index.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1828800"/>
            <a:ext cx="3063240" cy="356616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2048256"/>
            <a:ext cx="2551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1B16"/>
                </a:solidFill>
                <a:latin typeface="Aptos"/>
              </a:rPr>
              <a:t>Scénarios de démo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514600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5F45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2514600"/>
            <a:ext cx="23042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Atelier à Paris ce week-end.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136392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5F45"/>
                </a:solidFill>
                <a:latin typeface="Apto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136392"/>
            <a:ext cx="23042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Événements famille prochainement.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758184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5F45"/>
                </a:solidFill>
                <a:latin typeface="Apto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3758184"/>
            <a:ext cx="23042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Exposition gratuite en Île-de-France.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7F2F16"/>
          </a:solidFill>
          <a:ln>
            <a:solidFill>
              <a:srgbClr val="7F2F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638544"/>
            <a:ext cx="5120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Puls-Events · POC assistant de recommandation culturelle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638544"/>
            <a:ext cx="548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F2F16"/>
                </a:solidFill>
                <a:latin typeface="Aptos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"/>
            <a:ext cx="502920" cy="36576"/>
          </a:xfrm>
          <a:prstGeom prst="rect">
            <a:avLst/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8580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1B16"/>
                </a:solidFill>
                <a:latin typeface="Aptos Display"/>
              </a:rPr>
              <a:t>Ce que nous avons mesuré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52728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584D"/>
                </a:solidFill>
                <a:latin typeface="Aptos"/>
              </a:rPr>
              <a:t>Des contrôles sur le code, l'API et la qualité des réponses sur 10 cas annotés.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2514600" cy="1536192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185416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B74F2A"/>
                </a:solidFill>
                <a:latin typeface="Aptos"/>
              </a:rPr>
              <a:t>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74320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2584D"/>
                </a:solidFill>
                <a:latin typeface="Aptos"/>
              </a:rPr>
              <a:t>tests unitaires et
d'intégration passent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93008" y="1874519"/>
            <a:ext cx="2514600" cy="1536192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8" y="2185416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35F45"/>
                </a:solidFill>
                <a:latin typeface="Aptos"/>
              </a:rPr>
              <a:t>1,00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274320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2584D"/>
                </a:solidFill>
                <a:latin typeface="Aptos"/>
              </a:rPr>
              <a:t>context precision
(RAGAS static)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1874519"/>
            <a:ext cx="2514600" cy="1536192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2185416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B74F2A"/>
                </a:solidFill>
                <a:latin typeface="Aptos"/>
              </a:rPr>
              <a:t>0,85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74320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2584D"/>
                </a:solidFill>
                <a:latin typeface="Aptos"/>
              </a:rPr>
              <a:t>answer relevancy
(RAGAS static)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98863" y="1874519"/>
            <a:ext cx="2514600" cy="1536192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3" y="2185416"/>
            <a:ext cx="21488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235F45"/>
                </a:solidFill>
                <a:latin typeface="Aptos"/>
              </a:rPr>
              <a:t>0,70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3" y="2743200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2584D"/>
                </a:solidFill>
                <a:latin typeface="Aptos"/>
              </a:rPr>
              <a:t>faithfulness
(RAGAS static)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34440" y="4160520"/>
            <a:ext cx="9692640" cy="676656"/>
          </a:xfrm>
          <a:prstGeom prst="roundRect">
            <a:avLst>
              <a:gd name="adj" fmla="val 12000"/>
            </a:avLst>
          </a:prstGeom>
          <a:solidFill>
            <a:srgbClr val="F3C7AD"/>
          </a:solidFill>
          <a:ln>
            <a:solidFill>
              <a:srgbClr val="F3C7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4379976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7F2F16"/>
                </a:solidFill>
                <a:latin typeface="Aptos"/>
              </a:rPr>
              <a:t>71 % de couverture. Lecture : la récupération est pertinente sur l'échantillon ; mieux contraindre la génération reste prioritaire.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7F2F16"/>
          </a:solidFill>
          <a:ln>
            <a:solidFill>
              <a:srgbClr val="7F2F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638544"/>
            <a:ext cx="5120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Aptos"/>
              </a:rPr>
              <a:t>Puls-Events · POC assistant de recommandation culturelle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638544"/>
            <a:ext cx="548640" cy="1280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411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7F2F16"/>
                </a:solidFill>
                <a:latin typeface="Aptos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"/>
            <a:ext cx="502920" cy="36576"/>
          </a:xfrm>
          <a:prstGeom prst="rect">
            <a:avLst/>
          </a:prstGeom>
          <a:solidFill>
            <a:srgbClr val="B74F2A"/>
          </a:solidFill>
          <a:ln>
            <a:solidFill>
              <a:srgbClr val="B74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85800"/>
            <a:ext cx="1106424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F1B16"/>
                </a:solidFill>
                <a:latin typeface="Aptos Display"/>
              </a:rPr>
              <a:t>Conclusion et suite du projet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252728"/>
            <a:ext cx="106070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2584D"/>
                </a:solidFill>
                <a:latin typeface="Aptos"/>
              </a:rPr>
              <a:t>Une première version fonctionnelle, avec des améliorations déjà identifiées.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28800"/>
            <a:ext cx="5120640" cy="356616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48256"/>
            <a:ext cx="46085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1B16"/>
                </a:solidFill>
                <a:latin typeface="Aptos"/>
              </a:rPr>
              <a:t>Ce qui a été réalisé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14600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74F2A"/>
                </a:solidFill>
                <a:latin typeface="Apto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14600"/>
            <a:ext cx="43616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Pipeline complet : collecte, indexation, retrieval et génération.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36392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74F2A"/>
                </a:solidFill>
                <a:latin typeface="Apto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36392"/>
            <a:ext cx="43616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Des réponses en langage courant basées sur OpenAgenda.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758184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B74F2A"/>
                </a:solidFill>
                <a:latin typeface="Apto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758184"/>
            <a:ext cx="43616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API FastAPI démontrable, testée et conteneurisable.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828800"/>
            <a:ext cx="5120640" cy="3566160"/>
          </a:xfrm>
          <a:prstGeom prst="roundRect">
            <a:avLst>
              <a:gd name="adj" fmla="val 12000"/>
            </a:avLst>
          </a:prstGeom>
          <a:solidFill>
            <a:srgbClr val="FFFAF2"/>
          </a:solidFill>
          <a:ln>
            <a:solidFill>
              <a:srgbClr val="E1D5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048256"/>
            <a:ext cx="460857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1B16"/>
                </a:solidFill>
                <a:latin typeface="Aptos"/>
              </a:rPr>
              <a:t>Prochaines étapes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514600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5F45"/>
                </a:solidFill>
                <a:latin typeface="Apto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59" y="2514600"/>
            <a:ext cx="43616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Reranking pour affiner les résultats proches.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3136392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5F45"/>
                </a:solidFill>
                <a:latin typeface="Apto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3136392"/>
            <a:ext cx="43616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Filtres explicites : date, lieu, catégorie.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59" y="3758184"/>
            <a:ext cx="164592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35F45"/>
                </a:solidFill>
                <a:latin typeface="Apto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59" y="3758184"/>
            <a:ext cx="4361688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2584D"/>
                </a:solidFill>
                <a:latin typeface="Aptos"/>
              </a:rPr>
              <a:t>Corpus rafraîchi et protection de /rebuild.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779008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7F2F16"/>
                </a:solidFill>
                <a:latin typeface="Aptos Display"/>
              </a:rPr>
              <a:t>Merci —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